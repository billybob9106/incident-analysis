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Incident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&amp; Results Walkthrough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41148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·  Data as of 22 Feb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92024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2514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open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91440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914400"/>
            <a:ext cx="192024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309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2514600" y="2514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Items (RIs)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open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91440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914400"/>
            <a:ext cx="192024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4617720" y="2514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Defined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with zero coverage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914400"/>
            <a:ext cx="1920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914400"/>
            <a:ext cx="192024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399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720840" y="2514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Control–RI Mappings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3154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Breakdown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Severity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4114800" cy="2743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51560"/>
            <a:ext cx="4114800" cy="274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3931920"/>
            <a:ext cx="859536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3A56C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395020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Majority of incidents are P2–P3 severity across all three categories — no single category dominates risk exposure.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Incident Volume — Monthly Trend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822960"/>
            <a:ext cx="841248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886200"/>
            <a:ext cx="8595360" cy="658368"/>
          </a:xfrm>
          <a:prstGeom prst="rect">
            <a:avLst/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3904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Monitor monthly volume for upward trends. Sustained increases may indicate systemic gaps in change or patch management processes.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Coverage Gaps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controls with ZERO RI coverage: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170432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CTL-003  Access Review Cycle  (Access Mgmt)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CTL-005  Patch Cadence – Critical  (Patch Mgmt)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CTL-006  Patch Cadence – High  (Patch Mgmt)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CTL-012  Uptime Monitoring  (Logging &amp; Monitoring)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CTL-016  Remote Access Control  (Network Security)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CTL-017  Backup Verification  (Backup &amp; Recovery)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CTL-020  Baseline Configuration  (Config Mgmt)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CTL-025  CAB Approval Mandatory  (Change Control)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777240"/>
            <a:ext cx="438912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Risk Ranking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4206240" cy="2926080"/>
        </p:xfrm>
        <a:graphic>
          <a:graphicData uri="http://schemas.openxmlformats.org/drawingml/2006/table">
            <a:tbl>
              <a:tblPr/>
              <a:tblGrid>
                <a:gridCol w="548640"/>
                <a:gridCol w="2560320"/>
                <a:gridCol w="109728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Desk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&amp; Observability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777240"/>
            <a:ext cx="4297680" cy="37490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3840480"/>
            <a:ext cx="411480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3A56C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38587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formula:
</a:t>
            </a:r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(incidents×1) + (severity×2) + (open RIs×3) + (control gaps×4)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Recurring Themes in Incidents &amp; RIs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titles &amp; descriptions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item text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4114800" cy="28346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51560"/>
            <a:ext cx="4114800" cy="2834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3977640"/>
            <a:ext cx="8595360" cy="640080"/>
          </a:xfrm>
          <a:prstGeom prst="rect">
            <a:avLst/>
          </a:prstGeom>
          <a:solidFill>
            <a:srgbClr val="EEF2FF"/>
          </a:solidFill>
          <a:ln w="12700">
            <a:solidFill>
              <a:srgbClr val="3A56C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5760" y="3995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Top themes — 'affected', 'impact', 'investigation' — suggest most incidents are reactive. Proactive prevention measures may reduce volume.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09728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zero-coverage control gaps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targeted RIs for all 8 controls with zero coverage — especially CTL-017 (Backup Verification) and CTL-025 (CAB Approval), which pose the highest operational risk.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109728" cy="1874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144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12984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Service Desk &amp; IT Operations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8249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teams hold the top two risk scores (159, 158). Schedule a rapid review of open RIs and assign dedicated resource to drive closure before next reporting cycle.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71800"/>
            <a:ext cx="109728" cy="1874520"/>
          </a:xfrm>
          <a:prstGeom prst="rect">
            <a:avLst/>
          </a:prstGeom>
          <a:solidFill>
            <a:srgbClr val="3A56C5"/>
          </a:solidFill>
          <a:ln w="12700">
            <a:solidFill>
              <a:srgbClr val="3A56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56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447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open RI backlog (49% open)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83133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all RIs are open. Introduce a weekly triage cadence to identify blockers and push stale items to closure or formal acceptance.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71800"/>
            <a:ext cx="109728" cy="1874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92040" y="34472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reactive to proactive posture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83133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themes ('investigation', 'impact') indicate a reactive culture. Invest in monitoring &amp; alerting automation and pre-emptive patching to reduce incident volume.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57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owners to zero-coverage controls  (Week 1)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 &amp; IT Ops risk review meeting  (Week 1)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weekly RI triage cadence  (Week 2)</a:t>
            </a:r>
            <a:endParaRPr lang="en-US" sz="16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analysis monthly to track improvement  (Ongoing)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the Risk &amp; Compliance team.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Incident Analysis — Executive Summary</dc:title>
  <dc:subject>Incident &amp; Risk Review</dc:subject>
  <dc:creator>Ben</dc:creator>
  <cp:lastModifiedBy>Ben</cp:lastModifiedBy>
  <cp:revision>1</cp:revision>
  <dcterms:created xsi:type="dcterms:W3CDTF">2026-02-22T16:07:36Z</dcterms:created>
  <dcterms:modified xsi:type="dcterms:W3CDTF">2026-02-22T16:07:36Z</dcterms:modified>
</cp:coreProperties>
</file>